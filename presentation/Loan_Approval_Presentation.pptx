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8316D8A-B8D6-5494-F0B5-47368C514D99}">
          <p14:sldIdLst>
            <p14:sldId id="256"/>
            <p14:sldId id="257"/>
            <p14:sldId id="258"/>
            <p14:sldId id="259"/>
          </p14:sldIdLst>
        </p14:section>
        <p14:section name="Data" id="{0AE9139F-8485-034A-2571-CB7CE1C9C68B}">
          <p14:sldIdLst>
            <p14:sldId id="260"/>
            <p14:sldId id="261"/>
            <p14:sldId id="262"/>
          </p14:sldIdLst>
        </p14:section>
        <p14:section name="Modelling" id="{4F2D40F3-92A5-3C3E-A67B-84B747D80C03}">
          <p14:sldIdLst>
            <p14:sldId id="263"/>
            <p14:sldId id="264"/>
            <p14:sldId id="265"/>
            <p14:sldId id="266"/>
          </p14:sldIdLst>
        </p14:section>
        <p14:section name="Results" id="{44159157-421D-84A6-E5A2-7D68F33FD51D}">
          <p14:sldIdLst>
            <p14:sldId id="267"/>
            <p14:sldId id="268"/>
            <p14:sldId id="269"/>
          </p14:sldIdLst>
        </p14:section>
        <p14:section name="Wrap-up" id="{CC56FEA2-351F-9748-598E-C4AA177575C3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1F3A"/>
                </a:solidFill>
                <a:latin typeface="+mn-lt"/>
              </a:defRPr>
            </a:pPr>
            <a:r>
              <a:rPr lang="en-IN" sz="1600" b="0" i="0" u="none" strike="noStrike">
                <a:solidFill>
                  <a:srgbClr val="0B1F3A"/>
                </a:solidFill>
                <a:latin typeface="+mn-lt"/>
              </a:rPr>
              <a:t>Model metrics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1F4E8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1F3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 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86.18</c:v>
                </c:pt>
                <c:pt idx="1">
                  <c:v>84</c:v>
                </c:pt>
                <c:pt idx="2">
                  <c:v>98.82</c:v>
                </c:pt>
                <c:pt idx="3">
                  <c:v>90.81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F1-42B9-9F12-E4A2977630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KNN</c:v>
                </c:pt>
              </c:strCache>
            </c:strRef>
          </c:tx>
          <c:spPr>
            <a:solidFill>
              <a:srgbClr val="8EC1F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1F3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 Score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81.3</c:v>
                </c:pt>
                <c:pt idx="1">
                  <c:v>81</c:v>
                </c:pt>
                <c:pt idx="2">
                  <c:v>95.29</c:v>
                </c:pt>
                <c:pt idx="3">
                  <c:v>87.57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F1-42B9-9F12-E4A2977630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CEBF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0B1F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8094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463040"/>
            <a:ext cx="731520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Click to add title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97764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marL="0" indent="0" algn="l">
              <a:buNone/>
            </a:pPr>
            <a:r>
              <a:rPr lang="en-US" sz="2000" dirty="0">
                <a:solidFill>
                  <a:schemeClr val="accent3"/>
                </a:solidFill>
              </a:rPr>
              <a:t>Click to add subtitle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Click to add title</a:t>
            </a: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Loan Approval Prediction | DMW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Click to add title</a:t>
            </a: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Loan Approval Prediction | DMW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urse tag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2"/>
                </a:solidFill>
              </a:rPr>
              <a:t>DATA MINING &amp; WAREHOUSING (DMW) PROJECT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4630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Loan Approval Prediction and Analysis Using Machine Learning and Power BI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977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3"/>
                </a:solidFill>
              </a:rPr>
              <a:t>Supervised Machine Learning — Binary Classification  |  Finance / Banking</a:t>
            </a:r>
            <a:endParaRPr lang="en-US" sz="2000" dirty="0"/>
          </a:p>
        </p:txBody>
      </p:sp>
      <p:sp>
        <p:nvSpPr>
          <p:cNvPr id="5" name="Presenter placeholder"/>
          <p:cNvSpPr/>
          <p:nvPr/>
        </p:nvSpPr>
        <p:spPr>
          <a:xfrm>
            <a:off x="731520" y="5257800"/>
            <a:ext cx="5852160" cy="640080"/>
          </a:xfrm>
          <a:prstGeom prst="roundRect">
            <a:avLst>
              <a:gd name="adj" fmla="val 14286"/>
            </a:avLst>
          </a:prstGeom>
          <a:solidFill>
            <a:schemeClr val="accent6">
              <a:alpha val="15000"/>
            </a:schemeClr>
          </a:solidFill>
          <a:ln w="22225">
            <a:solidFill>
              <a:schemeClr val="accent6"/>
            </a:solidFill>
            <a:prstDash val="dash"/>
          </a:ln>
        </p:spPr>
      </p:sp>
      <p:sp>
        <p:nvSpPr>
          <p:cNvPr id="6" name="Presenter placeholder text"/>
          <p:cNvSpPr txBox="1"/>
          <p:nvPr/>
        </p:nvSpPr>
        <p:spPr>
          <a:xfrm>
            <a:off x="731520" y="5257800"/>
            <a:ext cx="585216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Atharva Gaikwad  -  09</a:t>
            </a:r>
            <a:endParaRPr lang="en-US" sz="1400" dirty="0"/>
          </a:p>
        </p:txBody>
      </p:sp>
      <p:sp>
        <p:nvSpPr>
          <p:cNvPr id="7" name="Motif large circle"/>
          <p:cNvSpPr/>
          <p:nvPr/>
        </p:nvSpPr>
        <p:spPr>
          <a:xfrm>
            <a:off x="8503920" y="1554480"/>
            <a:ext cx="3200400" cy="3200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Bank icon" descr="Ban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514600"/>
            <a:ext cx="1280160" cy="1280160"/>
          </a:xfrm>
          <a:prstGeom prst="rect">
            <a:avLst/>
          </a:prstGeom>
        </p:spPr>
      </p:pic>
      <p:sp>
        <p:nvSpPr>
          <p:cNvPr id="9" name="Chart circle"/>
          <p:cNvSpPr/>
          <p:nvPr/>
        </p:nvSpPr>
        <p:spPr>
          <a:xfrm>
            <a:off x="8229600" y="4160520"/>
            <a:ext cx="1051560" cy="10515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Chart icon" descr="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2490" y="4423410"/>
            <a:ext cx="525780" cy="525780"/>
          </a:xfrm>
          <a:prstGeom prst="rect">
            <a:avLst/>
          </a:prstGeom>
        </p:spPr>
      </p:pic>
      <p:sp>
        <p:nvSpPr>
          <p:cNvPr id="11" name="Brain circle"/>
          <p:cNvSpPr/>
          <p:nvPr/>
        </p:nvSpPr>
        <p:spPr>
          <a:xfrm>
            <a:off x="10972800" y="100584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Brain icon" descr="Brai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0" y="1234440"/>
            <a:ext cx="457200" cy="457200"/>
          </a:xfrm>
          <a:prstGeom prst="rect">
            <a:avLst/>
          </a:prstGeom>
        </p:spPr>
      </p:pic>
      <p:sp>
        <p:nvSpPr>
          <p:cNvPr id="13" name="Database circle"/>
          <p:cNvSpPr/>
          <p:nvPr/>
        </p:nvSpPr>
        <p:spPr>
          <a:xfrm>
            <a:off x="10881360" y="443484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4" name="Database icon" descr="Databa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5670" y="4629150"/>
            <a:ext cx="388620" cy="388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Introduction</a:t>
            </a:r>
            <a:endParaRPr lang="en-US" sz="3400" dirty="0"/>
          </a:p>
        </p:txBody>
      </p:sp>
      <p:sp>
        <p:nvSpPr>
          <p:cNvPr id="3" name="Intro card 1"/>
          <p:cNvSpPr/>
          <p:nvPr/>
        </p:nvSpPr>
        <p:spPr>
          <a:xfrm>
            <a:off x="548640" y="1463040"/>
            <a:ext cx="53492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Intro 1 circle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ntro 1 icon" descr="Intr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197739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783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Loan decisions in banking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23317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Banks assess every application before approving a loan.</a:t>
            </a:r>
            <a:endParaRPr lang="en-US" sz="1600" dirty="0"/>
          </a:p>
        </p:txBody>
      </p:sp>
      <p:sp>
        <p:nvSpPr>
          <p:cNvPr id="8" name="Intro card 2"/>
          <p:cNvSpPr/>
          <p:nvPr/>
        </p:nvSpPr>
        <p:spPr>
          <a:xfrm>
            <a:off x="6263640" y="1463040"/>
            <a:ext cx="53492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Intro 2 circle"/>
          <p:cNvSpPr/>
          <p:nvPr/>
        </p:nvSpPr>
        <p:spPr>
          <a:xfrm>
            <a:off x="6583680" y="178308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ntro 2 icon" descr="Intro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990" y="197739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35240" y="1783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Data-driven approach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635240" y="23317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Historical application data can reveal patterns linked to approval.</a:t>
            </a:r>
            <a:endParaRPr lang="en-US" sz="1600" dirty="0"/>
          </a:p>
        </p:txBody>
      </p:sp>
      <p:sp>
        <p:nvSpPr>
          <p:cNvPr id="13" name="Intro card 3"/>
          <p:cNvSpPr/>
          <p:nvPr/>
        </p:nvSpPr>
        <p:spPr>
          <a:xfrm>
            <a:off x="548640" y="3931920"/>
            <a:ext cx="53492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Intro 3 circle"/>
          <p:cNvSpPr/>
          <p:nvPr/>
        </p:nvSpPr>
        <p:spPr>
          <a:xfrm>
            <a:off x="868680" y="425196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ntro 3 icon" descr="Intro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90" y="444627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20240" y="4251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Machine learning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920240" y="48006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Classification models predict whether a loan is approved or rejected.</a:t>
            </a:r>
            <a:endParaRPr lang="en-US" sz="1600" dirty="0"/>
          </a:p>
        </p:txBody>
      </p:sp>
      <p:sp>
        <p:nvSpPr>
          <p:cNvPr id="18" name="Intro card 4"/>
          <p:cNvSpPr/>
          <p:nvPr/>
        </p:nvSpPr>
        <p:spPr>
          <a:xfrm>
            <a:off x="6263640" y="3931920"/>
            <a:ext cx="53492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Intro 4 circle"/>
          <p:cNvSpPr/>
          <p:nvPr/>
        </p:nvSpPr>
        <p:spPr>
          <a:xfrm>
            <a:off x="6583680" y="425196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ntro 4 icon" descr="Intro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7990" y="4446270"/>
            <a:ext cx="388620" cy="3886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635240" y="4251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Business intelligence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635240" y="48006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Power BI turns the data into an interactive dashboard.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Problem Statement</a:t>
            </a:r>
            <a:endParaRPr lang="en-US" sz="3400" dirty="0"/>
          </a:p>
        </p:txBody>
      </p:sp>
      <p:sp>
        <p:nvSpPr>
          <p:cNvPr id="3" name="Problem statement card"/>
          <p:cNvSpPr/>
          <p:nvPr/>
        </p:nvSpPr>
        <p:spPr>
          <a:xfrm>
            <a:off x="548640" y="1463040"/>
            <a:ext cx="11064240" cy="1554480"/>
          </a:xfrm>
          <a:prstGeom prst="roundRect">
            <a:avLst>
              <a:gd name="adj" fmla="val 7059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46304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Given an applicant's personal and financial details, predict whether the loan application will be Approved or Rejected.</a:t>
            </a:r>
            <a:endParaRPr lang="en-US" sz="2400" dirty="0"/>
          </a:p>
        </p:txBody>
      </p:sp>
      <p:sp>
        <p:nvSpPr>
          <p:cNvPr id="5" name="Flow card 1"/>
          <p:cNvSpPr/>
          <p:nvPr/>
        </p:nvSpPr>
        <p:spPr>
          <a:xfrm>
            <a:off x="548640" y="3566160"/>
            <a:ext cx="320040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6" name="Flow 1 circle"/>
          <p:cNvSpPr/>
          <p:nvPr/>
        </p:nvSpPr>
        <p:spPr>
          <a:xfrm>
            <a:off x="822960" y="37947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Flow 1 icon" descr="Flow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9776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3794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Input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66344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Applicant profile, income, loan details, credit history, property area</a:t>
            </a:r>
            <a:endParaRPr lang="en-US" sz="1400" dirty="0"/>
          </a:p>
        </p:txBody>
      </p:sp>
      <p:sp>
        <p:nvSpPr>
          <p:cNvPr id="10" name="Flow arrow 1"/>
          <p:cNvSpPr/>
          <p:nvPr/>
        </p:nvSpPr>
        <p:spPr>
          <a:xfrm>
            <a:off x="3840480" y="4800600"/>
            <a:ext cx="5486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Flow card 2"/>
          <p:cNvSpPr/>
          <p:nvPr/>
        </p:nvSpPr>
        <p:spPr>
          <a:xfrm>
            <a:off x="4480560" y="3566160"/>
            <a:ext cx="320040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2" name="Flow 2 circle"/>
          <p:cNvSpPr/>
          <p:nvPr/>
        </p:nvSpPr>
        <p:spPr>
          <a:xfrm>
            <a:off x="4754880" y="37947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Flow 2 icon" descr="Flow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9776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669280" y="3794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Model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754880" y="466344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Logistic Regression and K-Nearest Neighbors</a:t>
            </a:r>
            <a:endParaRPr lang="en-US" sz="1400" dirty="0"/>
          </a:p>
        </p:txBody>
      </p:sp>
      <p:sp>
        <p:nvSpPr>
          <p:cNvPr id="16" name="Flow arrow 2"/>
          <p:cNvSpPr/>
          <p:nvPr/>
        </p:nvSpPr>
        <p:spPr>
          <a:xfrm>
            <a:off x="7772400" y="4800600"/>
            <a:ext cx="5486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Flow card 3"/>
          <p:cNvSpPr/>
          <p:nvPr/>
        </p:nvSpPr>
        <p:spPr>
          <a:xfrm>
            <a:off x="8412480" y="3566160"/>
            <a:ext cx="320040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8" name="Flow 3 circle"/>
          <p:cNvSpPr/>
          <p:nvPr/>
        </p:nvSpPr>
        <p:spPr>
          <a:xfrm>
            <a:off x="8686800" y="37947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Flow 3 icon" descr="Flow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39776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601200" y="3794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Output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8686800" y="466344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loan_status: Approved (1) or Rejected (0)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Objectives</a:t>
            </a:r>
            <a:endParaRPr lang="en-US" sz="3400" dirty="0"/>
          </a:p>
        </p:txBody>
      </p:sp>
      <p:sp>
        <p:nvSpPr>
          <p:cNvPr id="3" name="Objective row 1"/>
          <p:cNvSpPr/>
          <p:nvPr/>
        </p:nvSpPr>
        <p:spPr>
          <a:xfrm>
            <a:off x="548640" y="1417320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4" name="Objective badge 1"/>
          <p:cNvSpPr/>
          <p:nvPr/>
        </p:nvSpPr>
        <p:spPr>
          <a:xfrm>
            <a:off x="777240" y="1545336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45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417320"/>
            <a:ext cx="9784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Analyze loan application data to identify useful patterns</a:t>
            </a:r>
            <a:endParaRPr lang="en-US" sz="2000" dirty="0"/>
          </a:p>
        </p:txBody>
      </p:sp>
      <p:sp>
        <p:nvSpPr>
          <p:cNvPr id="7" name="Objective row 2"/>
          <p:cNvSpPr/>
          <p:nvPr/>
        </p:nvSpPr>
        <p:spPr>
          <a:xfrm>
            <a:off x="548640" y="2350008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8" name="Objective badge 2"/>
          <p:cNvSpPr/>
          <p:nvPr/>
        </p:nvSpPr>
        <p:spPr>
          <a:xfrm>
            <a:off x="777240" y="2478024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4780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350008"/>
            <a:ext cx="9784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Clean, encode and prepare the data for machine learning</a:t>
            </a:r>
            <a:endParaRPr lang="en-US" sz="2000" dirty="0"/>
          </a:p>
        </p:txBody>
      </p:sp>
      <p:sp>
        <p:nvSpPr>
          <p:cNvPr id="11" name="Objective row 3"/>
          <p:cNvSpPr/>
          <p:nvPr/>
        </p:nvSpPr>
        <p:spPr>
          <a:xfrm>
            <a:off x="548640" y="3282696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12" name="Objective badge 3"/>
          <p:cNvSpPr/>
          <p:nvPr/>
        </p:nvSpPr>
        <p:spPr>
          <a:xfrm>
            <a:off x="777240" y="3410712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410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282696"/>
            <a:ext cx="9784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Predict loan approval using Logistic Regression and KNN</a:t>
            </a:r>
            <a:endParaRPr lang="en-US" sz="2000" dirty="0"/>
          </a:p>
        </p:txBody>
      </p:sp>
      <p:sp>
        <p:nvSpPr>
          <p:cNvPr id="15" name="Objective row 4"/>
          <p:cNvSpPr/>
          <p:nvPr/>
        </p:nvSpPr>
        <p:spPr>
          <a:xfrm>
            <a:off x="548640" y="4215384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16" name="Objective badge 4"/>
          <p:cNvSpPr/>
          <p:nvPr/>
        </p:nvSpPr>
        <p:spPr>
          <a:xfrm>
            <a:off x="777240" y="43434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215384"/>
            <a:ext cx="9784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Compare the models using accuracy, precision, recall and F1 score</a:t>
            </a:r>
            <a:endParaRPr lang="en-US" sz="2000" dirty="0"/>
          </a:p>
        </p:txBody>
      </p:sp>
      <p:sp>
        <p:nvSpPr>
          <p:cNvPr id="19" name="Objective row 5"/>
          <p:cNvSpPr/>
          <p:nvPr/>
        </p:nvSpPr>
        <p:spPr>
          <a:xfrm>
            <a:off x="548640" y="5148072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20" name="Objective badge 5"/>
          <p:cNvSpPr/>
          <p:nvPr/>
        </p:nvSpPr>
        <p:spPr>
          <a:xfrm>
            <a:off x="777240" y="5276088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276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5148072"/>
            <a:ext cx="9784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Build an interactive Power BI dashboard for loan analysis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Dataset &amp; Attributes</a:t>
            </a:r>
            <a:endParaRPr lang="en-US" sz="3400" dirty="0"/>
          </a:p>
        </p:txBody>
      </p:sp>
      <p:graphicFrame>
        <p:nvGraphicFramePr>
          <p:cNvPr id="6" name="Dataset colum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98080" cy="4764024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Column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Meaning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loan_id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Unique ID of the loan application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gender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Gender of the applicant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married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Marital status of the applicant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dependents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Number of dependents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education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Education level of the applicant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self_employed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Whether the applicant is self-employed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applicantincome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Income of the applicant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coapplicantincome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Income of the co-applicant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loanamount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Loan amount requested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loan_amount_term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Repayment term of the loan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credit_history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Credit history indicator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property_area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Area where the property is located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loan_status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Loan outcome: approved or rejected</a:t>
                      </a:r>
                      <a:endParaRPr lang="en-US" sz="13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Target card"/>
          <p:cNvSpPr/>
          <p:nvPr/>
        </p:nvSpPr>
        <p:spPr>
          <a:xfrm>
            <a:off x="8321040" y="1371600"/>
            <a:ext cx="3291840" cy="2011680"/>
          </a:xfrm>
          <a:prstGeom prst="roundRect">
            <a:avLst>
              <a:gd name="adj" fmla="val 5455"/>
            </a:avLst>
          </a:prstGeom>
          <a:solidFill>
            <a:schemeClr val="tx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549640" y="13716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</a:rPr>
              <a:t>TARGET VARIABLE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bg1"/>
                </a:solidFill>
              </a:rPr>
              <a:t>loan_status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Y = Loan Approved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N = Loan Rejected</a:t>
            </a:r>
            <a:endParaRPr lang="en-US" sz="1200" dirty="0"/>
          </a:p>
        </p:txBody>
      </p:sp>
      <p:sp>
        <p:nvSpPr>
          <p:cNvPr id="3" name="Identifier card"/>
          <p:cNvSpPr/>
          <p:nvPr/>
        </p:nvSpPr>
        <p:spPr>
          <a:xfrm>
            <a:off x="8321040" y="3566160"/>
            <a:ext cx="32918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49640" y="356616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loan_id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Identifier only, so it is excluded from the 11 input features</a:t>
            </a:r>
            <a:endParaRPr lang="en-US" sz="1800" dirty="0"/>
          </a:p>
        </p:txBody>
      </p:sp>
      <p:sp>
        <p:nvSpPr>
          <p:cNvPr id="8" name="Record count placeholder"/>
          <p:cNvSpPr/>
          <p:nvPr/>
        </p:nvSpPr>
        <p:spPr>
          <a:xfrm>
            <a:off x="8321040" y="5166360"/>
            <a:ext cx="3291840" cy="822960"/>
          </a:xfrm>
          <a:prstGeom prst="roundRect">
            <a:avLst>
              <a:gd name="adj" fmla="val 11111"/>
            </a:avLst>
          </a:prstGeom>
          <a:solidFill>
            <a:schemeClr val="accent6">
              <a:alpha val="15000"/>
            </a:schemeClr>
          </a:solidFill>
          <a:ln w="22225">
            <a:solidFill>
              <a:schemeClr val="accent6"/>
            </a:solidFill>
            <a:prstDash val="dash"/>
          </a:ln>
        </p:spPr>
      </p:sp>
      <p:sp>
        <p:nvSpPr>
          <p:cNvPr id="9" name="Record count placeholder text"/>
          <p:cNvSpPr txBox="1"/>
          <p:nvPr/>
        </p:nvSpPr>
        <p:spPr>
          <a:xfrm>
            <a:off x="8321040" y="5166360"/>
            <a:ext cx="329184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Records in dataset: </a:t>
            </a:r>
            <a:r>
              <a:rPr lang="en-US" sz="1400" dirty="0"/>
              <a:t>614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Data Preprocessing</a:t>
            </a:r>
            <a:endParaRPr lang="en-US" sz="3400" dirty="0"/>
          </a:p>
        </p:txBody>
      </p:sp>
      <p:sp>
        <p:nvSpPr>
          <p:cNvPr id="3" name="Step card 1"/>
          <p:cNvSpPr/>
          <p:nvPr/>
        </p:nvSpPr>
        <p:spPr>
          <a:xfrm>
            <a:off x="548640" y="141732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Step badge 1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41732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Loaded the loan dataset using Pandas</a:t>
            </a:r>
            <a:endParaRPr lang="en-US" sz="1500" dirty="0"/>
          </a:p>
        </p:txBody>
      </p:sp>
      <p:sp>
        <p:nvSpPr>
          <p:cNvPr id="7" name="Step card 2"/>
          <p:cNvSpPr/>
          <p:nvPr/>
        </p:nvSpPr>
        <p:spPr>
          <a:xfrm>
            <a:off x="4297680" y="141732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8" name="Step badge 2"/>
          <p:cNvSpPr/>
          <p:nvPr/>
        </p:nvSpPr>
        <p:spPr>
          <a:xfrm>
            <a:off x="4526280" y="18745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141732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Checked dataset structure and data types</a:t>
            </a:r>
            <a:endParaRPr lang="en-US" sz="1500" dirty="0"/>
          </a:p>
        </p:txBody>
      </p:sp>
      <p:sp>
        <p:nvSpPr>
          <p:cNvPr id="11" name="Step card 3"/>
          <p:cNvSpPr/>
          <p:nvPr/>
        </p:nvSpPr>
        <p:spPr>
          <a:xfrm>
            <a:off x="8046720" y="141732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2" name="Step badge 3"/>
          <p:cNvSpPr/>
          <p:nvPr/>
        </p:nvSpPr>
        <p:spPr>
          <a:xfrm>
            <a:off x="8275320" y="18745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753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006840" y="141732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Handled missing values</a:t>
            </a:r>
            <a:endParaRPr lang="en-US" sz="1500" dirty="0"/>
          </a:p>
        </p:txBody>
      </p:sp>
      <p:sp>
        <p:nvSpPr>
          <p:cNvPr id="15" name="Step card 4"/>
          <p:cNvSpPr/>
          <p:nvPr/>
        </p:nvSpPr>
        <p:spPr>
          <a:xfrm>
            <a:off x="548640" y="306324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6" name="Step badge 4"/>
          <p:cNvSpPr/>
          <p:nvPr/>
        </p:nvSpPr>
        <p:spPr>
          <a:xfrm>
            <a:off x="777240" y="35204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06324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Cleaned categorical values</a:t>
            </a:r>
            <a:endParaRPr lang="en-US" sz="1500" dirty="0"/>
          </a:p>
        </p:txBody>
      </p:sp>
      <p:sp>
        <p:nvSpPr>
          <p:cNvPr id="19" name="Step card 5"/>
          <p:cNvSpPr/>
          <p:nvPr/>
        </p:nvSpPr>
        <p:spPr>
          <a:xfrm>
            <a:off x="4297680" y="306324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0" name="Step badge 5"/>
          <p:cNvSpPr/>
          <p:nvPr/>
        </p:nvSpPr>
        <p:spPr>
          <a:xfrm>
            <a:off x="4526280" y="35204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2628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306324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Converted target: Y → 1 (Approved), N → 0 (Rejected)</a:t>
            </a:r>
            <a:endParaRPr lang="en-US" sz="1500" dirty="0"/>
          </a:p>
        </p:txBody>
      </p:sp>
      <p:sp>
        <p:nvSpPr>
          <p:cNvPr id="23" name="Step card 6"/>
          <p:cNvSpPr/>
          <p:nvPr/>
        </p:nvSpPr>
        <p:spPr>
          <a:xfrm>
            <a:off x="8046720" y="306324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4" name="Step badge 6"/>
          <p:cNvSpPr/>
          <p:nvPr/>
        </p:nvSpPr>
        <p:spPr>
          <a:xfrm>
            <a:off x="8275320" y="35204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7532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006840" y="306324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Removed loan_id from the ML features</a:t>
            </a:r>
            <a:endParaRPr lang="en-US" sz="1500" dirty="0"/>
          </a:p>
        </p:txBody>
      </p:sp>
      <p:sp>
        <p:nvSpPr>
          <p:cNvPr id="27" name="Step card 7"/>
          <p:cNvSpPr/>
          <p:nvPr/>
        </p:nvSpPr>
        <p:spPr>
          <a:xfrm>
            <a:off x="548640" y="470916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8" name="Step badge 7"/>
          <p:cNvSpPr/>
          <p:nvPr/>
        </p:nvSpPr>
        <p:spPr>
          <a:xfrm>
            <a:off x="777240" y="51663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508760" y="470916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Encoded categorical variables for machine learning</a:t>
            </a:r>
            <a:endParaRPr lang="en-US" sz="1500" dirty="0"/>
          </a:p>
        </p:txBody>
      </p:sp>
      <p:sp>
        <p:nvSpPr>
          <p:cNvPr id="31" name="Step card 8"/>
          <p:cNvSpPr/>
          <p:nvPr/>
        </p:nvSpPr>
        <p:spPr>
          <a:xfrm>
            <a:off x="4297680" y="470916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32" name="Step badge 8"/>
          <p:cNvSpPr/>
          <p:nvPr/>
        </p:nvSpPr>
        <p:spPr>
          <a:xfrm>
            <a:off x="4526280" y="51663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2628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8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5257800" y="470916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Split the data into training and testing sets</a:t>
            </a:r>
            <a:endParaRPr lang="en-US" sz="1500" dirty="0"/>
          </a:p>
        </p:txBody>
      </p:sp>
      <p:sp>
        <p:nvSpPr>
          <p:cNvPr id="35" name="Step card 9"/>
          <p:cNvSpPr/>
          <p:nvPr/>
        </p:nvSpPr>
        <p:spPr>
          <a:xfrm>
            <a:off x="8046720" y="470916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36" name="Step badge 9"/>
          <p:cNvSpPr/>
          <p:nvPr/>
        </p:nvSpPr>
        <p:spPr>
          <a:xfrm>
            <a:off x="8275320" y="51663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27532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9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9006840" y="470916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Prepared the data for classification models</a:t>
            </a:r>
            <a:endParaRPr lang="en-US" sz="15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Exploratory Data Analysis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Analysis was performed to identify the relationship between each attribute and loan approval.</a:t>
            </a:r>
            <a:endParaRPr lang="en-US" sz="1600" dirty="0"/>
          </a:p>
        </p:txBody>
      </p:sp>
      <p:sp>
        <p:nvSpPr>
          <p:cNvPr id="4" name="EDA card 1"/>
          <p:cNvSpPr/>
          <p:nvPr/>
        </p:nvSpPr>
        <p:spPr>
          <a:xfrm>
            <a:off x="548640" y="1828800"/>
            <a:ext cx="35661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5" name="EDA 1 circle"/>
          <p:cNvSpPr/>
          <p:nvPr/>
        </p:nvSpPr>
        <p:spPr>
          <a:xfrm>
            <a:off x="777240" y="214884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EDA 1 icon" descr="ED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3088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288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Approval distribution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Approved vs rejected applications</a:t>
            </a:r>
            <a:endParaRPr lang="en-US" sz="1600" dirty="0"/>
          </a:p>
        </p:txBody>
      </p:sp>
      <p:sp>
        <p:nvSpPr>
          <p:cNvPr id="8" name="EDA card 2"/>
          <p:cNvSpPr/>
          <p:nvPr/>
        </p:nvSpPr>
        <p:spPr>
          <a:xfrm>
            <a:off x="4297680" y="1828800"/>
            <a:ext cx="35661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9" name="EDA 2 circle"/>
          <p:cNvSpPr/>
          <p:nvPr/>
        </p:nvSpPr>
        <p:spPr>
          <a:xfrm>
            <a:off x="4526280" y="214884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EDA 2 icon" descr="EDA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23088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18288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Credit history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Relationship with loan status</a:t>
            </a:r>
            <a:endParaRPr lang="en-US" sz="1600" dirty="0"/>
          </a:p>
        </p:txBody>
      </p:sp>
      <p:sp>
        <p:nvSpPr>
          <p:cNvPr id="12" name="EDA card 3"/>
          <p:cNvSpPr/>
          <p:nvPr/>
        </p:nvSpPr>
        <p:spPr>
          <a:xfrm>
            <a:off x="8046720" y="1828800"/>
            <a:ext cx="35661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3" name="EDA 3 circle"/>
          <p:cNvSpPr/>
          <p:nvPr/>
        </p:nvSpPr>
        <p:spPr>
          <a:xfrm>
            <a:off x="8275320" y="214884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EDA 3 icon" descr="EDA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5340" y="230886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098280" y="18288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Property area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Relationship with loan status</a:t>
            </a:r>
            <a:endParaRPr lang="en-US" sz="1600" dirty="0"/>
          </a:p>
        </p:txBody>
      </p:sp>
      <p:sp>
        <p:nvSpPr>
          <p:cNvPr id="16" name="EDA card 4"/>
          <p:cNvSpPr/>
          <p:nvPr/>
        </p:nvSpPr>
        <p:spPr>
          <a:xfrm>
            <a:off x="548640" y="3291840"/>
            <a:ext cx="35661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7" name="EDA 4 circle"/>
          <p:cNvSpPr/>
          <p:nvPr/>
        </p:nvSpPr>
        <p:spPr>
          <a:xfrm>
            <a:off x="777240" y="36118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8" name="EDA 4 icon" descr="EDA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" y="37719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32918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Education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Relationship with loan status</a:t>
            </a:r>
            <a:endParaRPr lang="en-US" sz="1600" dirty="0"/>
          </a:p>
        </p:txBody>
      </p:sp>
      <p:sp>
        <p:nvSpPr>
          <p:cNvPr id="20" name="EDA card 5"/>
          <p:cNvSpPr/>
          <p:nvPr/>
        </p:nvSpPr>
        <p:spPr>
          <a:xfrm>
            <a:off x="4297680" y="3291840"/>
            <a:ext cx="35661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1" name="EDA 5 circle"/>
          <p:cNvSpPr/>
          <p:nvPr/>
        </p:nvSpPr>
        <p:spPr>
          <a:xfrm>
            <a:off x="4526280" y="36118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2" name="EDA 5 icon" descr="EDA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6300" y="377190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349240" y="32918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Gender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Relationship with loan status</a:t>
            </a:r>
            <a:endParaRPr lang="en-US" sz="1600" dirty="0"/>
          </a:p>
        </p:txBody>
      </p:sp>
      <p:sp>
        <p:nvSpPr>
          <p:cNvPr id="24" name="EDA card 6"/>
          <p:cNvSpPr/>
          <p:nvPr/>
        </p:nvSpPr>
        <p:spPr>
          <a:xfrm>
            <a:off x="8046720" y="3291840"/>
            <a:ext cx="35661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5" name="EDA 6 circle"/>
          <p:cNvSpPr/>
          <p:nvPr/>
        </p:nvSpPr>
        <p:spPr>
          <a:xfrm>
            <a:off x="8275320" y="36118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EDA 6 icon" descr="EDA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5340" y="3771900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098280" y="32918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Applicant income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Distribution and link to approval</a:t>
            </a:r>
            <a:endParaRPr lang="en-US" sz="1600" dirty="0"/>
          </a:p>
        </p:txBody>
      </p:sp>
      <p:sp>
        <p:nvSpPr>
          <p:cNvPr id="28" name="EDA card 7"/>
          <p:cNvSpPr/>
          <p:nvPr/>
        </p:nvSpPr>
        <p:spPr>
          <a:xfrm>
            <a:off x="548640" y="4754880"/>
            <a:ext cx="35661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9" name="EDA 7 circle"/>
          <p:cNvSpPr/>
          <p:nvPr/>
        </p:nvSpPr>
        <p:spPr>
          <a:xfrm>
            <a:off x="777240" y="50749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EDA 7 icon" descr="EDA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260" y="5234940"/>
            <a:ext cx="320040" cy="32004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600200" y="47548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Co-applicant income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Distribution and link to approval</a:t>
            </a:r>
            <a:endParaRPr lang="en-US" sz="1600" dirty="0"/>
          </a:p>
        </p:txBody>
      </p:sp>
      <p:sp>
        <p:nvSpPr>
          <p:cNvPr id="32" name="EDA card 8"/>
          <p:cNvSpPr/>
          <p:nvPr/>
        </p:nvSpPr>
        <p:spPr>
          <a:xfrm>
            <a:off x="4297680" y="4754880"/>
            <a:ext cx="35661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33" name="EDA 8 circle"/>
          <p:cNvSpPr/>
          <p:nvPr/>
        </p:nvSpPr>
        <p:spPr>
          <a:xfrm>
            <a:off x="4526280" y="50749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4" name="EDA 8 icon" descr="EDA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6300" y="5234940"/>
            <a:ext cx="320040" cy="32004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5349240" y="47548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Loan amount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Distribution and link to approval</a:t>
            </a:r>
            <a:endParaRPr lang="en-US" sz="1600" dirty="0"/>
          </a:p>
        </p:txBody>
      </p:sp>
      <p:sp>
        <p:nvSpPr>
          <p:cNvPr id="36" name="EDA card 9"/>
          <p:cNvSpPr/>
          <p:nvPr/>
        </p:nvSpPr>
        <p:spPr>
          <a:xfrm>
            <a:off x="8046720" y="4754880"/>
            <a:ext cx="35661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37" name="EDA 9 circle"/>
          <p:cNvSpPr/>
          <p:nvPr/>
        </p:nvSpPr>
        <p:spPr>
          <a:xfrm>
            <a:off x="8275320" y="50749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8" name="EDA 9 icon" descr="EDA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5340" y="5234940"/>
            <a:ext cx="320040" cy="32004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9098280" y="47548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Loan amount term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Distribution and link to approval</a:t>
            </a:r>
            <a:endParaRPr lang="en-US" sz="16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Machine Learning Methodology</a:t>
            </a:r>
            <a:endParaRPr lang="en-US" sz="3400" dirty="0"/>
          </a:p>
        </p:txBody>
      </p:sp>
      <p:sp>
        <p:nvSpPr>
          <p:cNvPr id="3" name="Workflow box 1"/>
          <p:cNvSpPr/>
          <p:nvPr/>
        </p:nvSpPr>
        <p:spPr>
          <a:xfrm>
            <a:off x="566928" y="1645920"/>
            <a:ext cx="182880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4" name="Workflow label 1"/>
          <p:cNvSpPr txBox="1"/>
          <p:nvPr/>
        </p:nvSpPr>
        <p:spPr>
          <a:xfrm>
            <a:off x="658368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01</a:t>
            </a:r>
            <a:endParaRPr lang="en-US" sz="1200" dirty="0"/>
          </a:p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Dataset</a:t>
            </a:r>
            <a:endParaRPr lang="en-US" sz="1200" dirty="0"/>
          </a:p>
        </p:txBody>
      </p:sp>
      <p:sp>
        <p:nvSpPr>
          <p:cNvPr id="5" name="Workflow box 2"/>
          <p:cNvSpPr/>
          <p:nvPr/>
        </p:nvSpPr>
        <p:spPr>
          <a:xfrm>
            <a:off x="2852928" y="1645920"/>
            <a:ext cx="182880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6" name="Workflow label 2"/>
          <p:cNvSpPr txBox="1"/>
          <p:nvPr/>
        </p:nvSpPr>
        <p:spPr>
          <a:xfrm>
            <a:off x="2944368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02</a:t>
            </a:r>
            <a:endParaRPr lang="en-US" sz="1200" dirty="0"/>
          </a:p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Data Cleaning</a:t>
            </a:r>
            <a:endParaRPr lang="en-US" sz="1200" dirty="0"/>
          </a:p>
        </p:txBody>
      </p:sp>
      <p:sp>
        <p:nvSpPr>
          <p:cNvPr id="7" name="Workflow box 3"/>
          <p:cNvSpPr/>
          <p:nvPr/>
        </p:nvSpPr>
        <p:spPr>
          <a:xfrm>
            <a:off x="5138928" y="1645920"/>
            <a:ext cx="182880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8" name="Workflow label 3"/>
          <p:cNvSpPr txBox="1"/>
          <p:nvPr/>
        </p:nvSpPr>
        <p:spPr>
          <a:xfrm>
            <a:off x="5230368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03</a:t>
            </a:r>
            <a:endParaRPr lang="en-US" sz="1200" dirty="0"/>
          </a:p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Exploratory Data Analysis</a:t>
            </a:r>
            <a:endParaRPr lang="en-US" sz="1200" dirty="0"/>
          </a:p>
        </p:txBody>
      </p:sp>
      <p:sp>
        <p:nvSpPr>
          <p:cNvPr id="9" name="Workflow box 4"/>
          <p:cNvSpPr/>
          <p:nvPr/>
        </p:nvSpPr>
        <p:spPr>
          <a:xfrm>
            <a:off x="7424928" y="1645920"/>
            <a:ext cx="182880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10" name="Workflow label 4"/>
          <p:cNvSpPr txBox="1"/>
          <p:nvPr/>
        </p:nvSpPr>
        <p:spPr>
          <a:xfrm>
            <a:off x="7516368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04</a:t>
            </a:r>
            <a:endParaRPr lang="en-US" sz="1200" dirty="0"/>
          </a:p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Feature Preparation</a:t>
            </a:r>
            <a:endParaRPr lang="en-US" sz="1200" dirty="0"/>
          </a:p>
        </p:txBody>
      </p:sp>
      <p:sp>
        <p:nvSpPr>
          <p:cNvPr id="11" name="Workflow box 5"/>
          <p:cNvSpPr/>
          <p:nvPr/>
        </p:nvSpPr>
        <p:spPr>
          <a:xfrm>
            <a:off x="9710928" y="1645920"/>
            <a:ext cx="182880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12" name="Workflow label 5"/>
          <p:cNvSpPr txBox="1"/>
          <p:nvPr/>
        </p:nvSpPr>
        <p:spPr>
          <a:xfrm>
            <a:off x="9802368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05</a:t>
            </a:r>
            <a:endParaRPr lang="en-US" sz="1200" dirty="0"/>
          </a:p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Train/Test Split</a:t>
            </a:r>
            <a:endParaRPr lang="en-US" sz="1200" dirty="0"/>
          </a:p>
        </p:txBody>
      </p:sp>
      <p:sp>
        <p:nvSpPr>
          <p:cNvPr id="13" name="Workflow box 6"/>
          <p:cNvSpPr/>
          <p:nvPr/>
        </p:nvSpPr>
        <p:spPr>
          <a:xfrm>
            <a:off x="9710928" y="3931920"/>
            <a:ext cx="182880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14" name="Workflow label 6"/>
          <p:cNvSpPr txBox="1"/>
          <p:nvPr/>
        </p:nvSpPr>
        <p:spPr>
          <a:xfrm>
            <a:off x="9802368" y="3931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06</a:t>
            </a:r>
            <a:endParaRPr lang="en-US" sz="1200" dirty="0"/>
          </a:p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Logistic Regression + KNN</a:t>
            </a:r>
            <a:endParaRPr lang="en-US" sz="1200" dirty="0"/>
          </a:p>
        </p:txBody>
      </p:sp>
      <p:sp>
        <p:nvSpPr>
          <p:cNvPr id="15" name="Workflow box 7"/>
          <p:cNvSpPr/>
          <p:nvPr/>
        </p:nvSpPr>
        <p:spPr>
          <a:xfrm>
            <a:off x="7424928" y="3931920"/>
            <a:ext cx="182880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16" name="Workflow label 7"/>
          <p:cNvSpPr txBox="1"/>
          <p:nvPr/>
        </p:nvSpPr>
        <p:spPr>
          <a:xfrm>
            <a:off x="7516368" y="3931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07</a:t>
            </a:r>
            <a:endParaRPr lang="en-US" sz="1200" dirty="0"/>
          </a:p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Model Evaluation</a:t>
            </a:r>
            <a:endParaRPr lang="en-US" sz="1200" dirty="0"/>
          </a:p>
        </p:txBody>
      </p:sp>
      <p:sp>
        <p:nvSpPr>
          <p:cNvPr id="17" name="Workflow box 8"/>
          <p:cNvSpPr/>
          <p:nvPr/>
        </p:nvSpPr>
        <p:spPr>
          <a:xfrm>
            <a:off x="5138928" y="3931920"/>
            <a:ext cx="182880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18" name="Workflow label 8"/>
          <p:cNvSpPr txBox="1"/>
          <p:nvPr/>
        </p:nvSpPr>
        <p:spPr>
          <a:xfrm>
            <a:off x="5230368" y="3931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08</a:t>
            </a:r>
            <a:endParaRPr lang="en-US" sz="1200" dirty="0"/>
          </a:p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Prediction</a:t>
            </a:r>
            <a:endParaRPr lang="en-US" sz="1200" dirty="0"/>
          </a:p>
        </p:txBody>
      </p:sp>
      <p:sp>
        <p:nvSpPr>
          <p:cNvPr id="19" name="Workflow box 9"/>
          <p:cNvSpPr/>
          <p:nvPr/>
        </p:nvSpPr>
        <p:spPr>
          <a:xfrm>
            <a:off x="2852928" y="3931920"/>
            <a:ext cx="182880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20" name="Workflow label 9"/>
          <p:cNvSpPr txBox="1"/>
          <p:nvPr/>
        </p:nvSpPr>
        <p:spPr>
          <a:xfrm>
            <a:off x="2944368" y="3931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09</a:t>
            </a:r>
            <a:endParaRPr lang="en-US" sz="1200" dirty="0"/>
          </a:p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Power BI Dashboard</a:t>
            </a:r>
            <a:endParaRPr lang="en-US" sz="1200" dirty="0"/>
          </a:p>
        </p:txBody>
      </p:sp>
      <p:sp>
        <p:nvSpPr>
          <p:cNvPr id="21" name="Arrow row1 1"/>
          <p:cNvSpPr/>
          <p:nvPr/>
        </p:nvSpPr>
        <p:spPr>
          <a:xfrm>
            <a:off x="2441448" y="2194560"/>
            <a:ext cx="3657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Arrow row1 2"/>
          <p:cNvSpPr/>
          <p:nvPr/>
        </p:nvSpPr>
        <p:spPr>
          <a:xfrm>
            <a:off x="4727448" y="2194560"/>
            <a:ext cx="3657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3" name="Arrow row1 3"/>
          <p:cNvSpPr/>
          <p:nvPr/>
        </p:nvSpPr>
        <p:spPr>
          <a:xfrm>
            <a:off x="7013448" y="2194560"/>
            <a:ext cx="3657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4" name="Arrow row1 4"/>
          <p:cNvSpPr/>
          <p:nvPr/>
        </p:nvSpPr>
        <p:spPr>
          <a:xfrm>
            <a:off x="9299448" y="2194560"/>
            <a:ext cx="3657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5" name="Arrow down"/>
          <p:cNvSpPr/>
          <p:nvPr/>
        </p:nvSpPr>
        <p:spPr>
          <a:xfrm>
            <a:off x="10625328" y="2788920"/>
            <a:ext cx="0" cy="109728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6" name="Arrow row2 1"/>
          <p:cNvSpPr/>
          <p:nvPr/>
        </p:nvSpPr>
        <p:spPr>
          <a:xfrm flipH="1">
            <a:off x="9299448" y="4480560"/>
            <a:ext cx="3657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7" name="Arrow row2 2"/>
          <p:cNvSpPr/>
          <p:nvPr/>
        </p:nvSpPr>
        <p:spPr>
          <a:xfrm flipH="1">
            <a:off x="7013448" y="4480560"/>
            <a:ext cx="3657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8" name="Arrow row2 3"/>
          <p:cNvSpPr/>
          <p:nvPr/>
        </p:nvSpPr>
        <p:spPr>
          <a:xfrm flipH="1">
            <a:off x="4727448" y="4480560"/>
            <a:ext cx="3657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9" name="Target note"/>
          <p:cNvSpPr/>
          <p:nvPr/>
        </p:nvSpPr>
        <p:spPr>
          <a:xfrm>
            <a:off x="566928" y="3931920"/>
            <a:ext cx="20116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5800" y="3931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Target: loan_status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Approved = 1, Rejected = 0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Both models were evaluated using accuracy, precision, recall and F1 score.</a:t>
            </a:r>
            <a:endParaRPr lang="en-US" sz="16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Logistic Regression</a:t>
            </a:r>
            <a:endParaRPr lang="en-US" sz="3400" dirty="0"/>
          </a:p>
        </p:txBody>
      </p:sp>
      <p:sp>
        <p:nvSpPr>
          <p:cNvPr id="3" name="Logistic Regression bullets"/>
          <p:cNvSpPr txBox="1"/>
          <p:nvPr/>
        </p:nvSpPr>
        <p:spPr>
          <a:xfrm>
            <a:off x="548640" y="1463040"/>
            <a:ext cx="5669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classification algorithm for binary outcomes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Estimates the probability that an application is approved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Probability is converted to a class: Approved (1) or Rejected (0)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Simple, fast and easy to interpret</a:t>
            </a:r>
            <a:endParaRPr lang="en-US" sz="1800" dirty="0"/>
          </a:p>
        </p:txBody>
      </p:sp>
      <p:sp>
        <p:nvSpPr>
          <p:cNvPr id="4" name="LR diagram box 1"/>
          <p:cNvSpPr/>
          <p:nvPr/>
        </p:nvSpPr>
        <p:spPr>
          <a:xfrm>
            <a:off x="6766560" y="1463040"/>
            <a:ext cx="484632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0" y="14630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Applicant features</a:t>
            </a:r>
            <a:endParaRPr lang="en-US" sz="1600" dirty="0"/>
          </a:p>
        </p:txBody>
      </p:sp>
      <p:sp>
        <p:nvSpPr>
          <p:cNvPr id="6" name="LR arrow 1"/>
          <p:cNvSpPr/>
          <p:nvPr/>
        </p:nvSpPr>
        <p:spPr>
          <a:xfrm>
            <a:off x="9189720" y="2304288"/>
            <a:ext cx="0" cy="23774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7" name="LR diagram box 2"/>
          <p:cNvSpPr/>
          <p:nvPr/>
        </p:nvSpPr>
        <p:spPr>
          <a:xfrm>
            <a:off x="6766560" y="2560320"/>
            <a:ext cx="484632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0" y="25603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Estimated probability of approval</a:t>
            </a:r>
            <a:endParaRPr lang="en-US" sz="1600" dirty="0"/>
          </a:p>
        </p:txBody>
      </p:sp>
      <p:sp>
        <p:nvSpPr>
          <p:cNvPr id="9" name="LR arrow 2"/>
          <p:cNvSpPr/>
          <p:nvPr/>
        </p:nvSpPr>
        <p:spPr>
          <a:xfrm>
            <a:off x="9189720" y="3401568"/>
            <a:ext cx="0" cy="237744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0" name="LR diagram box 3"/>
          <p:cNvSpPr/>
          <p:nvPr/>
        </p:nvSpPr>
        <p:spPr>
          <a:xfrm>
            <a:off x="6766560" y="3657600"/>
            <a:ext cx="4846320" cy="822960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0" y="36576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Predicted class: 1 (Approved) or 0 (Rejected)</a:t>
            </a:r>
            <a:endParaRPr lang="en-US" sz="1600" dirty="0"/>
          </a:p>
        </p:txBody>
      </p:sp>
      <p:sp>
        <p:nvSpPr>
          <p:cNvPr id="12" name="Metric tile 1"/>
          <p:cNvSpPr/>
          <p:nvPr/>
        </p:nvSpPr>
        <p:spPr>
          <a:xfrm>
            <a:off x="548640" y="4846320"/>
            <a:ext cx="2628900" cy="128016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846320"/>
            <a:ext cx="26289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86.18%</a:t>
            </a:r>
            <a:endParaRPr lang="en-US" sz="3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Accuracy</a:t>
            </a:r>
            <a:endParaRPr lang="en-US" sz="3200" dirty="0"/>
          </a:p>
        </p:txBody>
      </p:sp>
      <p:sp>
        <p:nvSpPr>
          <p:cNvPr id="14" name="Metric tile 2"/>
          <p:cNvSpPr/>
          <p:nvPr/>
        </p:nvSpPr>
        <p:spPr>
          <a:xfrm>
            <a:off x="3360420" y="4846320"/>
            <a:ext cx="2628900" cy="128016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60420" y="4846320"/>
            <a:ext cx="26289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84.00%</a:t>
            </a:r>
            <a:endParaRPr lang="en-US" sz="3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Precision</a:t>
            </a:r>
            <a:endParaRPr lang="en-US" sz="3200" dirty="0"/>
          </a:p>
        </p:txBody>
      </p:sp>
      <p:sp>
        <p:nvSpPr>
          <p:cNvPr id="16" name="Metric tile 3"/>
          <p:cNvSpPr/>
          <p:nvPr/>
        </p:nvSpPr>
        <p:spPr>
          <a:xfrm>
            <a:off x="6172200" y="4846320"/>
            <a:ext cx="2628900" cy="128016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4846320"/>
            <a:ext cx="26289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98.82%</a:t>
            </a:r>
            <a:endParaRPr lang="en-US" sz="3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Recall</a:t>
            </a:r>
            <a:endParaRPr lang="en-US" sz="3200" dirty="0"/>
          </a:p>
        </p:txBody>
      </p:sp>
      <p:sp>
        <p:nvSpPr>
          <p:cNvPr id="18" name="Metric tile 4"/>
          <p:cNvSpPr/>
          <p:nvPr/>
        </p:nvSpPr>
        <p:spPr>
          <a:xfrm>
            <a:off x="8983980" y="4846320"/>
            <a:ext cx="2628900" cy="128016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83980" y="4846320"/>
            <a:ext cx="26289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90.81%</a:t>
            </a:r>
            <a:endParaRPr lang="en-US" sz="3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F1 Score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K-Nearest Neighbors (KNN)</a:t>
            </a:r>
            <a:endParaRPr lang="en-US" sz="3400" dirty="0"/>
          </a:p>
        </p:txBody>
      </p:sp>
      <p:sp>
        <p:nvSpPr>
          <p:cNvPr id="3" name="KNN bullets"/>
          <p:cNvSpPr txBox="1"/>
          <p:nvPr/>
        </p:nvSpPr>
        <p:spPr>
          <a:xfrm>
            <a:off x="548640" y="1463040"/>
            <a:ext cx="5669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Classifies an applicant using nearby observations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Finds the K most similar applicants in the data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Assigns the class most common among those neighbors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Simple, distance-based method</a:t>
            </a:r>
            <a:endParaRPr lang="en-US" sz="1800" dirty="0"/>
          </a:p>
        </p:txBody>
      </p:sp>
      <p:sp>
        <p:nvSpPr>
          <p:cNvPr id="4" name="K value placeholder"/>
          <p:cNvSpPr/>
          <p:nvPr/>
        </p:nvSpPr>
        <p:spPr>
          <a:xfrm>
            <a:off x="548640" y="4023360"/>
            <a:ext cx="5486400" cy="548640"/>
          </a:xfrm>
          <a:prstGeom prst="roundRect">
            <a:avLst>
              <a:gd name="adj" fmla="val 16667"/>
            </a:avLst>
          </a:prstGeom>
          <a:solidFill>
            <a:schemeClr val="accent6">
              <a:alpha val="15000"/>
            </a:schemeClr>
          </a:solidFill>
          <a:ln w="22225">
            <a:solidFill>
              <a:schemeClr val="accent6"/>
            </a:solidFill>
            <a:prstDash val="dash"/>
          </a:ln>
        </p:spPr>
      </p:sp>
      <p:sp>
        <p:nvSpPr>
          <p:cNvPr id="5" name="K value placeholder text"/>
          <p:cNvSpPr txBox="1"/>
          <p:nvPr/>
        </p:nvSpPr>
        <p:spPr>
          <a:xfrm>
            <a:off x="548640" y="4023360"/>
            <a:ext cx="548640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Value of K used: </a:t>
            </a:r>
            <a:r>
              <a:rPr lang="en-US" sz="1400" dirty="0"/>
              <a:t>5</a:t>
            </a:r>
          </a:p>
        </p:txBody>
      </p:sp>
      <p:sp>
        <p:nvSpPr>
          <p:cNvPr id="6" name="KNN diagram card"/>
          <p:cNvSpPr/>
          <p:nvPr/>
        </p:nvSpPr>
        <p:spPr>
          <a:xfrm>
            <a:off x="6583680" y="1463040"/>
            <a:ext cx="502920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7" name="KNN neighborhood circle"/>
          <p:cNvSpPr/>
          <p:nvPr/>
        </p:nvSpPr>
        <p:spPr>
          <a:xfrm>
            <a:off x="8229600" y="1965960"/>
            <a:ext cx="1737360" cy="1737360"/>
          </a:xfrm>
          <a:prstGeom prst="ellipse">
            <a:avLst/>
          </a:prstGeom>
          <a:solidFill>
            <a:schemeClr val="bg1">
              <a:alpha val="0"/>
            </a:schemeClr>
          </a:solidFill>
          <a:ln w="22225">
            <a:solidFill>
              <a:schemeClr val="accent1"/>
            </a:solidFill>
            <a:prstDash val="dash"/>
          </a:ln>
        </p:spPr>
      </p:sp>
      <p:sp>
        <p:nvSpPr>
          <p:cNvPr id="8" name="Approved point 1"/>
          <p:cNvSpPr/>
          <p:nvPr/>
        </p:nvSpPr>
        <p:spPr>
          <a:xfrm>
            <a:off x="8540496" y="2276856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Approved point 2"/>
          <p:cNvSpPr/>
          <p:nvPr/>
        </p:nvSpPr>
        <p:spPr>
          <a:xfrm>
            <a:off x="9454896" y="2414016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Approved point 3"/>
          <p:cNvSpPr/>
          <p:nvPr/>
        </p:nvSpPr>
        <p:spPr>
          <a:xfrm>
            <a:off x="9226296" y="3236976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Approved point 4"/>
          <p:cNvSpPr/>
          <p:nvPr/>
        </p:nvSpPr>
        <p:spPr>
          <a:xfrm>
            <a:off x="7214616" y="1911096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Approved point 5"/>
          <p:cNvSpPr/>
          <p:nvPr/>
        </p:nvSpPr>
        <p:spPr>
          <a:xfrm>
            <a:off x="7671816" y="3557016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Approved point 6"/>
          <p:cNvSpPr/>
          <p:nvPr/>
        </p:nvSpPr>
        <p:spPr>
          <a:xfrm>
            <a:off x="10780776" y="1911096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Approved point 7"/>
          <p:cNvSpPr/>
          <p:nvPr/>
        </p:nvSpPr>
        <p:spPr>
          <a:xfrm>
            <a:off x="10506456" y="3465576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Approved point 8"/>
          <p:cNvSpPr/>
          <p:nvPr/>
        </p:nvSpPr>
        <p:spPr>
          <a:xfrm>
            <a:off x="7306056" y="2916936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Rejected point 1"/>
          <p:cNvSpPr/>
          <p:nvPr/>
        </p:nvSpPr>
        <p:spPr>
          <a:xfrm>
            <a:off x="8494776" y="3099816"/>
            <a:ext cx="201168" cy="20116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7" name="Rejected point 2"/>
          <p:cNvSpPr/>
          <p:nvPr/>
        </p:nvSpPr>
        <p:spPr>
          <a:xfrm>
            <a:off x="8037576" y="2185416"/>
            <a:ext cx="201168" cy="20116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Rejected point 3"/>
          <p:cNvSpPr/>
          <p:nvPr/>
        </p:nvSpPr>
        <p:spPr>
          <a:xfrm>
            <a:off x="10689336" y="2734056"/>
            <a:ext cx="201168" cy="20116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9" name="Rejected point 4"/>
          <p:cNvSpPr/>
          <p:nvPr/>
        </p:nvSpPr>
        <p:spPr>
          <a:xfrm>
            <a:off x="9866376" y="1773936"/>
            <a:ext cx="201168" cy="20116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0" name="Rejected point 5"/>
          <p:cNvSpPr/>
          <p:nvPr/>
        </p:nvSpPr>
        <p:spPr>
          <a:xfrm>
            <a:off x="8586216" y="3739896"/>
            <a:ext cx="201168" cy="20116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1" name="New applicant point"/>
          <p:cNvSpPr/>
          <p:nvPr/>
        </p:nvSpPr>
        <p:spPr>
          <a:xfrm>
            <a:off x="8961120" y="2697480"/>
            <a:ext cx="292608" cy="292608"/>
          </a:xfrm>
          <a:prstGeom prst="diamond">
            <a:avLst/>
          </a:prstGeom>
          <a:solidFill>
            <a:schemeClr val="bg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22" name="Legend approved"/>
          <p:cNvSpPr/>
          <p:nvPr/>
        </p:nvSpPr>
        <p:spPr>
          <a:xfrm>
            <a:off x="6812280" y="4206240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022592" y="41148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Approved</a:t>
            </a:r>
            <a:endParaRPr lang="en-US" sz="1200" dirty="0"/>
          </a:p>
        </p:txBody>
      </p:sp>
      <p:sp>
        <p:nvSpPr>
          <p:cNvPr id="24" name="Legend rejected"/>
          <p:cNvSpPr/>
          <p:nvPr/>
        </p:nvSpPr>
        <p:spPr>
          <a:xfrm>
            <a:off x="8046720" y="4206240"/>
            <a:ext cx="146304" cy="14630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57032" y="41148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Rejected</a:t>
            </a:r>
            <a:endParaRPr lang="en-US" sz="1200" dirty="0"/>
          </a:p>
        </p:txBody>
      </p:sp>
      <p:sp>
        <p:nvSpPr>
          <p:cNvPr id="26" name="Legend new"/>
          <p:cNvSpPr/>
          <p:nvPr/>
        </p:nvSpPr>
        <p:spPr>
          <a:xfrm>
            <a:off x="9235440" y="4178808"/>
            <a:ext cx="201168" cy="201168"/>
          </a:xfrm>
          <a:prstGeom prst="diamond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509760" y="41148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New applicant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0" y="41148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chemeClr val="accent5"/>
                </a:solidFill>
              </a:rPr>
              <a:t>Illustrative</a:t>
            </a:r>
            <a:endParaRPr lang="en-US" sz="1200" dirty="0"/>
          </a:p>
        </p:txBody>
      </p:sp>
      <p:sp>
        <p:nvSpPr>
          <p:cNvPr id="29" name="Metric tile 1"/>
          <p:cNvSpPr/>
          <p:nvPr/>
        </p:nvSpPr>
        <p:spPr>
          <a:xfrm>
            <a:off x="548640" y="4846320"/>
            <a:ext cx="2628900" cy="128016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4846320"/>
            <a:ext cx="26289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81.30%</a:t>
            </a:r>
            <a:endParaRPr lang="en-US" sz="3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Accuracy</a:t>
            </a:r>
            <a:endParaRPr lang="en-US" sz="3200" dirty="0"/>
          </a:p>
        </p:txBody>
      </p:sp>
      <p:sp>
        <p:nvSpPr>
          <p:cNvPr id="31" name="Metric tile 2"/>
          <p:cNvSpPr/>
          <p:nvPr/>
        </p:nvSpPr>
        <p:spPr>
          <a:xfrm>
            <a:off x="3360420" y="4846320"/>
            <a:ext cx="2628900" cy="128016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360420" y="4846320"/>
            <a:ext cx="26289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81.00%</a:t>
            </a:r>
            <a:endParaRPr lang="en-US" sz="3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Precision</a:t>
            </a:r>
            <a:endParaRPr lang="en-US" sz="3200" dirty="0"/>
          </a:p>
        </p:txBody>
      </p:sp>
      <p:sp>
        <p:nvSpPr>
          <p:cNvPr id="33" name="Metric tile 3"/>
          <p:cNvSpPr/>
          <p:nvPr/>
        </p:nvSpPr>
        <p:spPr>
          <a:xfrm>
            <a:off x="6172200" y="4846320"/>
            <a:ext cx="2628900" cy="128016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172200" y="4846320"/>
            <a:ext cx="26289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95.29%</a:t>
            </a:r>
            <a:endParaRPr lang="en-US" sz="3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Recall</a:t>
            </a:r>
            <a:endParaRPr lang="en-US" sz="3200" dirty="0"/>
          </a:p>
        </p:txBody>
      </p:sp>
      <p:sp>
        <p:nvSpPr>
          <p:cNvPr id="35" name="Metric tile 4"/>
          <p:cNvSpPr/>
          <p:nvPr/>
        </p:nvSpPr>
        <p:spPr>
          <a:xfrm>
            <a:off x="8983980" y="4846320"/>
            <a:ext cx="2628900" cy="128016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983980" y="4846320"/>
            <a:ext cx="26289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87.57%</a:t>
            </a:r>
            <a:endParaRPr lang="en-US" sz="3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F1 Score</a:t>
            </a:r>
            <a:endParaRPr lang="en-US" sz="32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Model Performance Comparison</a:t>
            </a:r>
            <a:endParaRPr lang="en-US" sz="3400" dirty="0"/>
          </a:p>
        </p:txBody>
      </p:sp>
      <p:graphicFrame>
        <p:nvGraphicFramePr>
          <p:cNvPr id="12" name="Metric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120640" cy="2743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Logistic Regression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KNN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en-US" sz="16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86.18%</a:t>
                      </a:r>
                      <a:endParaRPr lang="en-US" sz="16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81.30%</a:t>
                      </a:r>
                      <a:endParaRPr lang="en-US" sz="16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Precision</a:t>
                      </a:r>
                      <a:endParaRPr lang="en-US" sz="16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84.00%</a:t>
                      </a:r>
                      <a:endParaRPr lang="en-US" sz="16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81.00%</a:t>
                      </a:r>
                      <a:endParaRPr lang="en-US" sz="16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Recall</a:t>
                      </a:r>
                      <a:endParaRPr lang="en-US" sz="16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98.82%</a:t>
                      </a:r>
                      <a:endParaRPr lang="en-US" sz="16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95.29%</a:t>
                      </a:r>
                      <a:endParaRPr lang="en-US" sz="16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F1 Score</a:t>
                      </a:r>
                      <a:endParaRPr lang="en-US" sz="16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90.81%</a:t>
                      </a:r>
                      <a:endParaRPr lang="en-US" sz="16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87.57%</a:t>
                      </a:r>
                      <a:endParaRPr lang="en-US" sz="16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Verdict card"/>
          <p:cNvSpPr/>
          <p:nvPr/>
        </p:nvSpPr>
        <p:spPr>
          <a:xfrm>
            <a:off x="548640" y="4480560"/>
            <a:ext cx="5120640" cy="1554480"/>
          </a:xfrm>
          <a:prstGeom prst="roundRect">
            <a:avLst>
              <a:gd name="adj" fmla="val 7059"/>
            </a:avLst>
          </a:prstGeom>
          <a:solidFill>
            <a:schemeClr val="tx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448056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Logistic Regression performed better overall in this project, leading on all four evaluated metrics.</a:t>
            </a:r>
            <a:endParaRPr lang="en-US" sz="1800" dirty="0"/>
          </a:p>
        </p:txBody>
      </p:sp>
      <p:graphicFrame>
        <p:nvGraphicFramePr>
          <p:cNvPr id="6" name="Chart 0" descr="Clustered bar chart comparing Logistic Regression and KNN on accuracy, precision, recall and F1 score"/>
          <p:cNvGraphicFramePr/>
          <p:nvPr/>
        </p:nvGraphicFramePr>
        <p:xfrm>
          <a:off x="5943600" y="1325880"/>
          <a:ext cx="56692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New Applicant Prediction</a:t>
            </a:r>
            <a:endParaRPr lang="en-US" sz="3400" dirty="0"/>
          </a:p>
        </p:txBody>
      </p:sp>
      <p:graphicFrame>
        <p:nvGraphicFramePr>
          <p:cNvPr id="13" name="Applicant detail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303520" cy="4608576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Attribute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Test applicant value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Gender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Male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Married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Dependents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Education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Graduate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Self Employed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Applicant Income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6000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Coapplicant Income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1500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Loan Amount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Loan Amount Term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360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Credit History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Property Area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Semiurban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Prediction statement card"/>
          <p:cNvSpPr/>
          <p:nvPr/>
        </p:nvSpPr>
        <p:spPr>
          <a:xfrm>
            <a:off x="6309360" y="1371600"/>
            <a:ext cx="53035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537960" y="13716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Prediction generated using the trained Logistic Regression and KNN models.</a:t>
            </a:r>
            <a:endParaRPr lang="en-US" sz="1800" dirty="0"/>
          </a:p>
        </p:txBody>
      </p:sp>
      <p:sp>
        <p:nvSpPr>
          <p:cNvPr id="6" name="LR prediction placeholder"/>
          <p:cNvSpPr/>
          <p:nvPr/>
        </p:nvSpPr>
        <p:spPr>
          <a:xfrm>
            <a:off x="6309360" y="288036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accent6">
              <a:alpha val="15000"/>
            </a:schemeClr>
          </a:solidFill>
          <a:ln w="22225">
            <a:solidFill>
              <a:schemeClr val="accent6"/>
            </a:solidFill>
            <a:prstDash val="dash"/>
          </a:ln>
        </p:spPr>
      </p:sp>
      <p:sp>
        <p:nvSpPr>
          <p:cNvPr id="7" name="LR prediction placeholder text"/>
          <p:cNvSpPr txBox="1"/>
          <p:nvPr/>
        </p:nvSpPr>
        <p:spPr>
          <a:xfrm>
            <a:off x="6309360" y="2880360"/>
            <a:ext cx="2560320" cy="2194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Logistic Regression</a:t>
            </a:r>
            <a:endParaRPr lang="en-US" sz="1600" dirty="0"/>
          </a:p>
          <a:p>
            <a:pPr algn="ctr"/>
            <a:r>
              <a:rPr lang="en-IN" dirty="0"/>
              <a:t>Prediction: Approved</a:t>
            </a:r>
            <a:endParaRPr lang="en-US" sz="1600" dirty="0"/>
          </a:p>
        </p:txBody>
      </p:sp>
      <p:sp>
        <p:nvSpPr>
          <p:cNvPr id="8" name="KNN prediction placeholder"/>
          <p:cNvSpPr/>
          <p:nvPr/>
        </p:nvSpPr>
        <p:spPr>
          <a:xfrm>
            <a:off x="9052560" y="288036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accent6">
              <a:alpha val="15000"/>
            </a:schemeClr>
          </a:solidFill>
          <a:ln w="22225">
            <a:solidFill>
              <a:schemeClr val="accent6"/>
            </a:solidFill>
            <a:prstDash val="dash"/>
          </a:ln>
        </p:spPr>
      </p:sp>
      <p:sp>
        <p:nvSpPr>
          <p:cNvPr id="9" name="KNN prediction placeholder text"/>
          <p:cNvSpPr txBox="1"/>
          <p:nvPr/>
        </p:nvSpPr>
        <p:spPr>
          <a:xfrm>
            <a:off x="9052560" y="2880360"/>
            <a:ext cx="2560320" cy="2194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KNN</a:t>
            </a:r>
            <a:endParaRPr lang="en-US" sz="1600" dirty="0"/>
          </a:p>
          <a:p>
            <a:pPr algn="ctr"/>
            <a:r>
              <a:rPr lang="en-IN" dirty="0"/>
              <a:t>Prediction: Approved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Power BI Dashboard</a:t>
            </a:r>
            <a:endParaRPr lang="en-US" sz="3400" dirty="0"/>
          </a:p>
        </p:txBody>
      </p:sp>
      <p:sp>
        <p:nvSpPr>
          <p:cNvPr id="3" name="KPI card 1"/>
          <p:cNvSpPr/>
          <p:nvPr/>
        </p:nvSpPr>
        <p:spPr>
          <a:xfrm>
            <a:off x="548640" y="1325880"/>
            <a:ext cx="172974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21792" y="1325880"/>
            <a:ext cx="15834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Total Applications</a:t>
            </a:r>
            <a:endParaRPr lang="en-US" sz="1400" dirty="0"/>
          </a:p>
        </p:txBody>
      </p:sp>
      <p:sp>
        <p:nvSpPr>
          <p:cNvPr id="5" name="KPI card 2"/>
          <p:cNvSpPr/>
          <p:nvPr/>
        </p:nvSpPr>
        <p:spPr>
          <a:xfrm>
            <a:off x="2415540" y="1325880"/>
            <a:ext cx="172974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488692" y="1325880"/>
            <a:ext cx="15834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Approved Loans</a:t>
            </a:r>
            <a:endParaRPr lang="en-US" sz="1400" dirty="0"/>
          </a:p>
        </p:txBody>
      </p:sp>
      <p:sp>
        <p:nvSpPr>
          <p:cNvPr id="7" name="KPI card 3"/>
          <p:cNvSpPr/>
          <p:nvPr/>
        </p:nvSpPr>
        <p:spPr>
          <a:xfrm>
            <a:off x="4282440" y="1325880"/>
            <a:ext cx="172974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55592" y="1325880"/>
            <a:ext cx="15834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Rejected Loans</a:t>
            </a:r>
            <a:endParaRPr lang="en-US" sz="1400" dirty="0"/>
          </a:p>
        </p:txBody>
      </p:sp>
      <p:sp>
        <p:nvSpPr>
          <p:cNvPr id="9" name="KPI card 4"/>
          <p:cNvSpPr/>
          <p:nvPr/>
        </p:nvSpPr>
        <p:spPr>
          <a:xfrm>
            <a:off x="6149340" y="1325880"/>
            <a:ext cx="172974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22492" y="1325880"/>
            <a:ext cx="15834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Approval Rate</a:t>
            </a:r>
            <a:endParaRPr lang="en-US" sz="1400" dirty="0"/>
          </a:p>
        </p:txBody>
      </p:sp>
      <p:sp>
        <p:nvSpPr>
          <p:cNvPr id="11" name="KPI card 5"/>
          <p:cNvSpPr/>
          <p:nvPr/>
        </p:nvSpPr>
        <p:spPr>
          <a:xfrm>
            <a:off x="8016240" y="1325880"/>
            <a:ext cx="172974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89392" y="1325880"/>
            <a:ext cx="15834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Average Loan Amount</a:t>
            </a:r>
            <a:endParaRPr lang="en-US" sz="1400" dirty="0"/>
          </a:p>
        </p:txBody>
      </p:sp>
      <p:sp>
        <p:nvSpPr>
          <p:cNvPr id="13" name="KPI card 6"/>
          <p:cNvSpPr/>
          <p:nvPr/>
        </p:nvSpPr>
        <p:spPr>
          <a:xfrm>
            <a:off x="9883140" y="1325880"/>
            <a:ext cx="172974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56292" y="1325880"/>
            <a:ext cx="15834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Average Applicant Income</a:t>
            </a:r>
            <a:endParaRPr lang="en-US" sz="1400" dirty="0"/>
          </a:p>
        </p:txBody>
      </p:sp>
      <p:sp>
        <p:nvSpPr>
          <p:cNvPr id="15" name="Power BI screenshot placeholder"/>
          <p:cNvSpPr/>
          <p:nvPr/>
        </p:nvSpPr>
        <p:spPr>
          <a:xfrm>
            <a:off x="548640" y="2331720"/>
            <a:ext cx="6766560" cy="3611880"/>
          </a:xfrm>
          <a:prstGeom prst="roundRect">
            <a:avLst>
              <a:gd name="adj" fmla="val 2532"/>
            </a:avLst>
          </a:prstGeom>
          <a:solidFill>
            <a:schemeClr val="accent6">
              <a:alpha val="15000"/>
            </a:schemeClr>
          </a:solidFill>
          <a:ln w="22225">
            <a:solidFill>
              <a:schemeClr val="accent6"/>
            </a:solidFill>
            <a:prstDash val="dash"/>
          </a:ln>
        </p:spPr>
      </p:sp>
      <p:sp>
        <p:nvSpPr>
          <p:cNvPr id="16" name="Power BI screenshot placeholder text"/>
          <p:cNvSpPr txBox="1"/>
          <p:nvPr/>
        </p:nvSpPr>
        <p:spPr>
          <a:xfrm>
            <a:off x="548640" y="2331720"/>
            <a:ext cx="6766560" cy="3611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[ INSERT POWER BI DASHBOARD SCREENSHOT HERE ]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Replace this box with your final dashboard image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01675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Built with Power Query and DAX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286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Visualizations</a:t>
            </a:r>
            <a:endParaRPr lang="en-US" sz="1600" dirty="0"/>
          </a:p>
        </p:txBody>
      </p:sp>
      <p:sp>
        <p:nvSpPr>
          <p:cNvPr id="19" name="Visualization list"/>
          <p:cNvSpPr txBox="1"/>
          <p:nvPr/>
        </p:nvSpPr>
        <p:spPr>
          <a:xfrm>
            <a:off x="7589520" y="2633472"/>
            <a:ext cx="4023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Loan approval status (donut)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Status by property area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Status by credit history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Status by education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Status by gender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Income vs loan amount (scatter)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Avg loan amount by education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Avg total income by loan status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Status by loan term</a:t>
            </a:r>
            <a:endParaRPr lang="en-US" sz="14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Self-employment distribution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5230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Slicers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55138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Gender, Education, Married, Self Employed, Credit History, Property Area, Dependents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5DD2BAE-72C7-BC76-3348-93B673F05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2331721"/>
            <a:ext cx="6766560" cy="36118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Key Findings</a:t>
            </a:r>
            <a:endParaRPr lang="en-US" sz="3400" dirty="0"/>
          </a:p>
        </p:txBody>
      </p:sp>
      <p:sp>
        <p:nvSpPr>
          <p:cNvPr id="3" name="Stat card 1"/>
          <p:cNvSpPr/>
          <p:nvPr/>
        </p:nvSpPr>
        <p:spPr>
          <a:xfrm>
            <a:off x="548640" y="14173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86.18%</a:t>
            </a:r>
            <a:endParaRPr lang="en-US" sz="48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accent3"/>
                </a:solidFill>
              </a:rPr>
              <a:t>Logistic Regression accuracy</a:t>
            </a:r>
            <a:endParaRPr lang="en-US" sz="4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KNN: 81.30%</a:t>
            </a:r>
            <a:endParaRPr lang="en-US" sz="4800" dirty="0"/>
          </a:p>
        </p:txBody>
      </p:sp>
      <p:sp>
        <p:nvSpPr>
          <p:cNvPr id="5" name="Stat card 2"/>
          <p:cNvSpPr/>
          <p:nvPr/>
        </p:nvSpPr>
        <p:spPr>
          <a:xfrm>
            <a:off x="4297680" y="14173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297680" y="141732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98.82%</a:t>
            </a:r>
            <a:endParaRPr lang="en-US" sz="48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accent3"/>
                </a:solidFill>
              </a:rPr>
              <a:t>Logistic Regression recall</a:t>
            </a:r>
            <a:endParaRPr lang="en-US" sz="4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KNN: 95.29%</a:t>
            </a:r>
            <a:endParaRPr lang="en-US" sz="4800" dirty="0"/>
          </a:p>
        </p:txBody>
      </p:sp>
      <p:sp>
        <p:nvSpPr>
          <p:cNvPr id="7" name="Stat card 3"/>
          <p:cNvSpPr/>
          <p:nvPr/>
        </p:nvSpPr>
        <p:spPr>
          <a:xfrm>
            <a:off x="8046720" y="14173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0" y="141732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90.81%</a:t>
            </a:r>
            <a:endParaRPr lang="en-US" sz="48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accent3"/>
                </a:solidFill>
              </a:rPr>
              <a:t>Logistic Regression F1 score</a:t>
            </a:r>
            <a:endParaRPr lang="en-US" sz="4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KNN: 87.57%</a:t>
            </a:r>
            <a:endParaRPr lang="en-US" sz="4800" dirty="0"/>
          </a:p>
        </p:txBody>
      </p:sp>
      <p:pic>
        <p:nvPicPr>
          <p:cNvPr id="9" name="Finding check 1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02336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97280" y="3931920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Logistic Regression led KNN on accuracy, precision, recall and F1 score in this project.</a:t>
            </a:r>
            <a:endParaRPr lang="en-US" sz="1600" dirty="0"/>
          </a:p>
        </p:txBody>
      </p:sp>
      <p:pic>
        <p:nvPicPr>
          <p:cNvPr id="11" name="Finding check 2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57200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97280" y="4480560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Both models showed high recall, identifying most of the approved applications.</a:t>
            </a:r>
            <a:endParaRPr lang="en-US" sz="1600" dirty="0"/>
          </a:p>
        </p:txBody>
      </p:sp>
      <p:pic>
        <p:nvPicPr>
          <p:cNvPr id="13" name="Finding check 3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12064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97280" y="5029200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Credit history, property area, education, gender and income attributes were explored against loan status.</a:t>
            </a:r>
            <a:endParaRPr lang="en-US" sz="1600" dirty="0"/>
          </a:p>
        </p:txBody>
      </p:sp>
      <p:pic>
        <p:nvPicPr>
          <p:cNvPr id="15" name="Finding check 4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669280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97280" y="5577840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Power BI dashboard supports interactive exploration of these patterns.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Conclusion 1 circle"/>
          <p:cNvSpPr/>
          <p:nvPr/>
        </p:nvSpPr>
        <p:spPr>
          <a:xfrm>
            <a:off x="548640" y="14630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Conclusion 1 icon" descr="Conclusi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163449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4173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Machine learning can assist in loan approval classification.</a:t>
            </a:r>
            <a:endParaRPr lang="en-US" sz="2000" dirty="0"/>
          </a:p>
        </p:txBody>
      </p:sp>
      <p:sp>
        <p:nvSpPr>
          <p:cNvPr id="6" name="Conclusion 2 circle"/>
          <p:cNvSpPr/>
          <p:nvPr/>
        </p:nvSpPr>
        <p:spPr>
          <a:xfrm>
            <a:off x="548640" y="23774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Conclusion 2 icon" descr="Conclusi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2548890"/>
            <a:ext cx="342900" cy="3429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23317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Logistic Regression achieved better overall performance than KNN on this dataset.</a:t>
            </a:r>
            <a:endParaRPr lang="en-US" sz="2000" dirty="0"/>
          </a:p>
        </p:txBody>
      </p:sp>
      <p:sp>
        <p:nvSpPr>
          <p:cNvPr id="9" name="Conclusion 3 circle"/>
          <p:cNvSpPr/>
          <p:nvPr/>
        </p:nvSpPr>
        <p:spPr>
          <a:xfrm>
            <a:off x="548640" y="32918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Conclusion 3 icon" descr="Conclusio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" y="3463290"/>
            <a:ext cx="342900" cy="3429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08760" y="3246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Credit history and financial/application attributes can be useful for loan analysis.</a:t>
            </a:r>
            <a:endParaRPr lang="en-US" sz="2000" dirty="0"/>
          </a:p>
        </p:txBody>
      </p:sp>
      <p:sp>
        <p:nvSpPr>
          <p:cNvPr id="12" name="Conclusion 4 circle"/>
          <p:cNvSpPr/>
          <p:nvPr/>
        </p:nvSpPr>
        <p:spPr>
          <a:xfrm>
            <a:off x="548640" y="42062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Conclusion 4 icon" descr="Conclusio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90" y="4377690"/>
            <a:ext cx="342900" cy="3429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508760" y="4160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Power BI provides an interactive way to explore loan application patterns.</a:t>
            </a:r>
            <a:endParaRPr lang="en-US" sz="2000" dirty="0"/>
          </a:p>
        </p:txBody>
      </p:sp>
      <p:sp>
        <p:nvSpPr>
          <p:cNvPr id="15" name="Conclusion 5 circle"/>
          <p:cNvSpPr/>
          <p:nvPr/>
        </p:nvSpPr>
        <p:spPr>
          <a:xfrm>
            <a:off x="548640" y="5120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Conclusion 5 icon" descr="Conclusion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0" y="5292090"/>
            <a:ext cx="342900" cy="3429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508760" y="50749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The project demonstrates the combination of machine learning and business intelligence.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Future Scope &amp; References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Future Scope</a:t>
            </a:r>
            <a:endParaRPr lang="en-US" sz="2200" dirty="0"/>
          </a:p>
        </p:txBody>
      </p:sp>
      <p:sp>
        <p:nvSpPr>
          <p:cNvPr id="4" name="Future scope list"/>
          <p:cNvSpPr txBox="1"/>
          <p:nvPr/>
        </p:nvSpPr>
        <p:spPr>
          <a:xfrm>
            <a:off x="548640" y="1920240"/>
            <a:ext cx="6035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Try additional classification algorithms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Hyperparameter tuning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Feature engineering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Larger and more recent datasets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Deployment as a web application / API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Real-time loan prediction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Explainable AI for individual predictions</a:t>
            </a:r>
            <a:endParaRPr lang="en-US" sz="1800" dirty="0"/>
          </a:p>
        </p:txBody>
      </p:sp>
      <p:sp>
        <p:nvSpPr>
          <p:cNvPr id="5" name="References card"/>
          <p:cNvSpPr/>
          <p:nvPr/>
        </p:nvSpPr>
        <p:spPr>
          <a:xfrm>
            <a:off x="7040880" y="1371600"/>
            <a:ext cx="4572000" cy="41148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0" y="15544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References</a:t>
            </a:r>
            <a:endParaRPr lang="en-US" sz="2200" dirty="0"/>
          </a:p>
        </p:txBody>
      </p:sp>
      <p:sp>
        <p:nvSpPr>
          <p:cNvPr id="7" name="References list"/>
          <p:cNvSpPr txBox="1"/>
          <p:nvPr/>
        </p:nvSpPr>
        <p:spPr>
          <a:xfrm>
            <a:off x="7315200" y="210312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Python documentation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docs.python.org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Pandas documentation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pandas.pydata.org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Scikit-learn documentation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scikit-learn.org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Microsoft Power BI documentation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learn.microsoft.com/power-bi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Kaggle: Loan Prediction dataset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kaggle.com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an Analytics Blue">
  <a:themeElements>
    <a:clrScheme name="Loan Analytics Blue">
      <a:dk1>
        <a:srgbClr val="0B1F3A"/>
      </a:dk1>
      <a:lt1>
        <a:srgbClr val="FFFFFF"/>
      </a:lt1>
      <a:dk2>
        <a:srgbClr val="1F4E8C"/>
      </a:dk2>
      <a:lt2>
        <a:srgbClr val="EAF3FC"/>
      </a:lt2>
      <a:accent1>
        <a:srgbClr val="1F4E8C"/>
      </a:accent1>
      <a:accent2>
        <a:srgbClr val="4A90D9"/>
      </a:accent2>
      <a:accent3>
        <a:srgbClr val="8EC1F0"/>
      </a:accent3>
      <a:accent4>
        <a:srgbClr val="DCEBFA"/>
      </a:accent4>
      <a:accent5>
        <a:srgbClr val="5B6B82"/>
      </a:accent5>
      <a:accent6>
        <a:srgbClr val="F2A33A"/>
      </a:accent6>
      <a:hlink>
        <a:srgbClr val="2F6FDE"/>
      </a:hlink>
      <a:folHlink>
        <a:srgbClr val="5B6B82"/>
      </a:folHlink>
    </a:clrScheme>
    <a:fontScheme name="Loan Analytics Bl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1106</Words>
  <Application>Microsoft Office PowerPoint</Application>
  <PresentationFormat>Widescreen</PresentationFormat>
  <Paragraphs>305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Loan Analytics Blue</vt:lpstr>
      <vt:lpstr>Loan Approval Prediction and Analysis Using Machine Learning and Power BI</vt:lpstr>
      <vt:lpstr>Introduction</vt:lpstr>
      <vt:lpstr>Problem Statement</vt:lpstr>
      <vt:lpstr>Objectives</vt:lpstr>
      <vt:lpstr>Dataset &amp; Attributes</vt:lpstr>
      <vt:lpstr>Data Preprocessing</vt:lpstr>
      <vt:lpstr>Exploratory Data Analysis</vt:lpstr>
      <vt:lpstr>Machine Learning Methodology</vt:lpstr>
      <vt:lpstr>Logistic Regression</vt:lpstr>
      <vt:lpstr>K-Nearest Neighbors (KNN)</vt:lpstr>
      <vt:lpstr>Model Performance Comparison</vt:lpstr>
      <vt:lpstr>New Applicant Prediction</vt:lpstr>
      <vt:lpstr>Power BI Dashboard</vt:lpstr>
      <vt:lpstr>Key Findings</vt:lpstr>
      <vt:lpstr>Conclusion</vt:lpstr>
      <vt:lpstr>Future Scope &amp; 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Approval Prediction and Analysis Using Machine Learning and Power BI</dc:title>
  <dc:subject>Data Mining &amp; Warehousing project</dc:subject>
  <dc:creator>PptxGenJS</dc:creator>
  <cp:lastModifiedBy>Atharva Gaikwad</cp:lastModifiedBy>
  <cp:revision>6</cp:revision>
  <dcterms:created xsi:type="dcterms:W3CDTF">2026-10-06T16:14:46Z</dcterms:created>
  <dcterms:modified xsi:type="dcterms:W3CDTF">2026-10-06T19:05:21Z</dcterms:modified>
</cp:coreProperties>
</file>